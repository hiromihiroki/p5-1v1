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3"/>
  </p:notesMasterIdLst>
  <p:handoutMasterIdLst>
    <p:handoutMasterId r:id="rId14"/>
  </p:handoutMasterIdLst>
  <p:sldIdLst>
    <p:sldId id="463" r:id="rId2"/>
    <p:sldId id="411" r:id="rId3"/>
    <p:sldId id="410" r:id="rId4"/>
    <p:sldId id="412" r:id="rId5"/>
    <p:sldId id="413" r:id="rId6"/>
    <p:sldId id="414" r:id="rId7"/>
    <p:sldId id="415" r:id="rId8"/>
    <p:sldId id="416" r:id="rId9"/>
    <p:sldId id="418" r:id="rId10"/>
    <p:sldId id="417" r:id="rId11"/>
    <p:sldId id="419" r:id="rId12"/>
  </p:sldIdLst>
  <p:sldSz cx="9144000" cy="6858000" type="screen4x3"/>
  <p:notesSz cx="7010400" cy="111252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uardo Rodríguez" initials="ER" lastIdx="1" clrIdx="0">
    <p:extLst>
      <p:ext uri="{19B8F6BF-5375-455C-9EA6-DF929625EA0E}">
        <p15:presenceInfo xmlns:p15="http://schemas.microsoft.com/office/powerpoint/2012/main" userId="7987c307ca42f03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6" autoAdjust="0"/>
    <p:restoredTop sz="97986" autoAdjust="0"/>
  </p:normalViewPr>
  <p:slideViewPr>
    <p:cSldViewPr snapToGrid="0">
      <p:cViewPr varScale="1">
        <p:scale>
          <a:sx n="61" d="100"/>
          <a:sy n="61" d="100"/>
        </p:scale>
        <p:origin x="115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Rodríguez" userId="7987c307ca42f036" providerId="LiveId" clId="{BB2EDB08-8426-4C3D-A3C3-8689F05612C1}"/>
    <pc:docChg chg="modSld">
      <pc:chgData name="Eduardo Rodríguez" userId="7987c307ca42f036" providerId="LiveId" clId="{BB2EDB08-8426-4C3D-A3C3-8689F05612C1}" dt="2021-01-28T14:52:39.952" v="78" actId="20577"/>
      <pc:docMkLst>
        <pc:docMk/>
      </pc:docMkLst>
      <pc:sldChg chg="modSp mod">
        <pc:chgData name="Eduardo Rodríguez" userId="7987c307ca42f036" providerId="LiveId" clId="{BB2EDB08-8426-4C3D-A3C3-8689F05612C1}" dt="2021-01-28T14:52:39.952" v="78" actId="20577"/>
        <pc:sldMkLst>
          <pc:docMk/>
          <pc:sldMk cId="1981119583" sldId="436"/>
        </pc:sldMkLst>
        <pc:spChg chg="mod">
          <ac:chgData name="Eduardo Rodríguez" userId="7987c307ca42f036" providerId="LiveId" clId="{BB2EDB08-8426-4C3D-A3C3-8689F05612C1}" dt="2021-01-28T14:52:39.952" v="78" actId="20577"/>
          <ac:spMkLst>
            <pc:docMk/>
            <pc:sldMk cId="1981119583" sldId="43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38475" cy="555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70340" y="2"/>
            <a:ext cx="3038475" cy="555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4FCC2-A5C9-44C1-8A40-FBCE91ED7653}" type="datetimeFigureOut">
              <a:rPr lang="es-CL" smtClean="0"/>
              <a:t>05-08-2026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2" y="10566400"/>
            <a:ext cx="3038475" cy="55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70340" y="10566400"/>
            <a:ext cx="3038475" cy="55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5109F-4A61-4D39-9758-D83C359042E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299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38475" cy="5585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41" y="0"/>
            <a:ext cx="3038475" cy="5585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3B4D1-E9F9-41EE-9084-2F68F7460D44}" type="datetimeFigureOut">
              <a:rPr lang="es-CL" smtClean="0"/>
              <a:t>05-08-2026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390650"/>
            <a:ext cx="5003800" cy="37544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5353625"/>
            <a:ext cx="5607050" cy="438092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10566662"/>
            <a:ext cx="3038475" cy="5585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41" y="10566662"/>
            <a:ext cx="3038475" cy="5585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4B7F8-0ED0-4EFA-AA51-25E0E26A324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60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5832-296F-4416-88D4-ED0F22909C87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Imagen 6" descr="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4416779" y="3407309"/>
            <a:ext cx="134055" cy="16444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0800" y="3393292"/>
            <a:ext cx="1565338" cy="17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1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98159-D9CF-4A0A-AD0D-507C31676334}" type="datetimeFigureOut">
              <a:rPr lang="es-CL" smtClean="0"/>
              <a:t>05-08-2026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‹Nº›</a:t>
            </a:fld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7" name="Imagen 6" descr="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983"/>
            <a:ext cx="9144000" cy="6858000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0"/>
            <a:ext cx="9144000" cy="1057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9" name="Rectángulo 8"/>
          <p:cNvSpPr/>
          <p:nvPr userDrawn="1"/>
        </p:nvSpPr>
        <p:spPr>
          <a:xfrm>
            <a:off x="2" y="-35983"/>
            <a:ext cx="211667" cy="1093427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725120"/>
            <a:ext cx="9144000" cy="144070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1" name="Paralelogramo 10"/>
          <p:cNvSpPr/>
          <p:nvPr userDrawn="1"/>
        </p:nvSpPr>
        <p:spPr>
          <a:xfrm>
            <a:off x="8372324" y="6463052"/>
            <a:ext cx="771677" cy="406141"/>
          </a:xfrm>
          <a:prstGeom prst="parallelogram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2" name="Rectángulo 11"/>
          <p:cNvSpPr/>
          <p:nvPr userDrawn="1"/>
        </p:nvSpPr>
        <p:spPr>
          <a:xfrm>
            <a:off x="8582422" y="6463050"/>
            <a:ext cx="561578" cy="406140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2171" y="117581"/>
            <a:ext cx="763238" cy="8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1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8790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95521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4536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916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FB334D-6DB9-4E2E-A605-3665F5365302}" type="slidenum">
              <a:rPr lang="es-ES" smtClean="0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34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540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7047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30785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5828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4783669" y="3322638"/>
            <a:ext cx="3316111" cy="1813806"/>
          </a:xfrm>
        </p:spPr>
        <p:txBody>
          <a:bodyPr>
            <a:normAutofit/>
          </a:bodyPr>
          <a:lstStyle>
            <a:lvl1pPr algn="l">
              <a:defRPr sz="3600" b="1" i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12"/>
          </p:nvPr>
        </p:nvSpPr>
        <p:spPr>
          <a:xfrm>
            <a:off x="183445" y="127004"/>
            <a:ext cx="4445000" cy="194733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189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914377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 marL="1371566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 marL="1828754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3" name="Rectángulo 2"/>
          <p:cNvSpPr/>
          <p:nvPr userDrawn="1"/>
        </p:nvSpPr>
        <p:spPr>
          <a:xfrm>
            <a:off x="4416779" y="3407309"/>
            <a:ext cx="134055" cy="16444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0800" y="3393292"/>
            <a:ext cx="1565338" cy="17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5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0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983"/>
            <a:ext cx="9144000" cy="6858000"/>
          </a:xfrm>
          <a:prstGeom prst="rect">
            <a:avLst/>
          </a:prstGeom>
        </p:spPr>
      </p:pic>
      <p:sp>
        <p:nvSpPr>
          <p:cNvPr id="15" name="Rectángulo 14"/>
          <p:cNvSpPr/>
          <p:nvPr userDrawn="1"/>
        </p:nvSpPr>
        <p:spPr>
          <a:xfrm>
            <a:off x="0" y="0"/>
            <a:ext cx="9144000" cy="1057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414868" y="148167"/>
            <a:ext cx="7600244" cy="691444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3"/>
          </p:nvPr>
        </p:nvSpPr>
        <p:spPr>
          <a:xfrm>
            <a:off x="414338" y="1425575"/>
            <a:ext cx="8229600" cy="4586288"/>
          </a:xfr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2" y="-35983"/>
            <a:ext cx="211667" cy="1093427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725120"/>
            <a:ext cx="9144000" cy="144070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2" name="Paralelogramo 11"/>
          <p:cNvSpPr/>
          <p:nvPr userDrawn="1"/>
        </p:nvSpPr>
        <p:spPr>
          <a:xfrm>
            <a:off x="8372324" y="6463052"/>
            <a:ext cx="771677" cy="406141"/>
          </a:xfrm>
          <a:prstGeom prst="parallelogram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13" name="Rectángulo 12"/>
          <p:cNvSpPr/>
          <p:nvPr userDrawn="1"/>
        </p:nvSpPr>
        <p:spPr>
          <a:xfrm>
            <a:off x="8582422" y="6463050"/>
            <a:ext cx="561578" cy="406140"/>
          </a:xfrm>
          <a:prstGeom prst="rect">
            <a:avLst/>
          </a:prstGeom>
          <a:solidFill>
            <a:srgbClr val="4F6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s-ES" sz="1800">
              <a:solidFill>
                <a:prstClr val="white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6"/>
          </p:nvPr>
        </p:nvSpPr>
        <p:spPr>
          <a:xfrm>
            <a:off x="8202262" y="6456896"/>
            <a:ext cx="770467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‹Nº›</a:t>
            </a:fld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17" name="Imagen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2171" y="117581"/>
            <a:ext cx="763238" cy="8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07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457202" y="1600202"/>
            <a:ext cx="4038601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s-E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648201" y="1600202"/>
            <a:ext cx="40386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911416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3833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fld id="{77F44EA8-5178-ED4A-9812-0C6A6D246B02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189"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6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661" r:id="rId12"/>
    <p:sldLayoutId id="2147483662" r:id="rId13"/>
    <p:sldLayoutId id="2147483671" r:id="rId14"/>
    <p:sldLayoutId id="2147483672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rreoschile.c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8626" y="1825625"/>
            <a:ext cx="7746724" cy="4351338"/>
          </a:xfrm>
        </p:spPr>
        <p:txBody>
          <a:bodyPr>
            <a:normAutofit/>
          </a:bodyPr>
          <a:lstStyle/>
          <a:p>
            <a:endParaRPr lang="es-CL" sz="3200" dirty="0"/>
          </a:p>
          <a:p>
            <a:endParaRPr lang="es-CL" sz="3200" dirty="0"/>
          </a:p>
          <a:p>
            <a:endParaRPr lang="es-CL" sz="3200" dirty="0"/>
          </a:p>
          <a:p>
            <a:r>
              <a:rPr lang="es-CL" sz="3200" b="1" dirty="0">
                <a:latin typeface="+mj-lt"/>
              </a:rPr>
              <a:t>Acerca de las Notificaciones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1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03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28591" y="165123"/>
            <a:ext cx="78268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4400" b="1" dirty="0">
                <a:latin typeface="+mj-lt"/>
              </a:rPr>
              <a:t>Materias</a:t>
            </a:r>
            <a:endParaRPr lang="es-CL" sz="4400" dirty="0">
              <a:latin typeface="+mj-lt"/>
            </a:endParaRPr>
          </a:p>
        </p:txBody>
      </p:sp>
      <p:sp>
        <p:nvSpPr>
          <p:cNvPr id="7" name="Subtítulo 2"/>
          <p:cNvSpPr>
            <a:spLocks noGrp="1"/>
          </p:cNvSpPr>
          <p:nvPr>
            <p:ph idx="1"/>
          </p:nvPr>
        </p:nvSpPr>
        <p:spPr>
          <a:xfrm>
            <a:off x="2235679" y="1587500"/>
            <a:ext cx="4841396" cy="43275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55600" indent="-355600">
              <a:buFontTx/>
              <a:buChar char="-"/>
            </a:pPr>
            <a:r>
              <a:rPr lang="es-CL" sz="2000" dirty="0">
                <a:solidFill>
                  <a:schemeClr val="tx1"/>
                </a:solidFill>
                <a:latin typeface="+mj-lt"/>
              </a:rPr>
              <a:t>En cuanto a su regulación.</a:t>
            </a:r>
          </a:p>
          <a:p>
            <a:pPr>
              <a:buFontTx/>
              <a:buChar char="-"/>
            </a:pPr>
            <a:endParaRPr lang="es-CL" sz="2000" dirty="0">
              <a:solidFill>
                <a:schemeClr val="tx1"/>
              </a:solidFill>
              <a:latin typeface="+mj-lt"/>
            </a:endParaRPr>
          </a:p>
          <a:p>
            <a:pPr>
              <a:buFontTx/>
              <a:buChar char="-"/>
            </a:pPr>
            <a:endParaRPr lang="es-CL" sz="2000" dirty="0">
              <a:solidFill>
                <a:schemeClr val="tx1"/>
              </a:solidFill>
              <a:latin typeface="+mj-lt"/>
            </a:endParaRPr>
          </a:p>
          <a:p>
            <a:pPr marL="0" indent="0" defTabSz="355600">
              <a:buNone/>
            </a:pPr>
            <a:r>
              <a:rPr lang="es-CL" sz="2000" dirty="0">
                <a:solidFill>
                  <a:schemeClr val="tx1"/>
                </a:solidFill>
                <a:latin typeface="+mj-lt"/>
              </a:rPr>
              <a:t>- 	Respecto a los tipos de notificación.</a:t>
            </a:r>
          </a:p>
          <a:p>
            <a:pPr marL="0" indent="0">
              <a:buNone/>
            </a:pPr>
            <a:endParaRPr lang="es-CL" sz="20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s-CL" sz="20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>
              <a:buFontTx/>
              <a:buChar char="-"/>
            </a:pPr>
            <a:r>
              <a:rPr lang="es-CL" sz="2000" dirty="0">
                <a:solidFill>
                  <a:schemeClr val="tx1"/>
                </a:solidFill>
                <a:latin typeface="+mj-lt"/>
              </a:rPr>
              <a:t>   Análisis práctico y jurisprudencial.</a:t>
            </a:r>
          </a:p>
          <a:p>
            <a:pPr>
              <a:buFontTx/>
              <a:buChar char="-"/>
            </a:pPr>
            <a:endParaRPr lang="es-CL" sz="2000" dirty="0">
              <a:solidFill>
                <a:schemeClr val="tx1"/>
              </a:solidFill>
              <a:latin typeface="+mj-lt"/>
            </a:endParaRPr>
          </a:p>
          <a:p>
            <a:pPr>
              <a:buFontTx/>
              <a:buChar char="-"/>
            </a:pPr>
            <a:endParaRPr lang="es-CL" sz="2000" dirty="0">
              <a:solidFill>
                <a:schemeClr val="tx1"/>
              </a:solidFill>
              <a:latin typeface="+mj-lt"/>
            </a:endParaRPr>
          </a:p>
          <a:p>
            <a:pPr>
              <a:buFontTx/>
              <a:buChar char="-"/>
            </a:pPr>
            <a:r>
              <a:rPr lang="es-CL" sz="2000" dirty="0">
                <a:solidFill>
                  <a:schemeClr val="tx1"/>
                </a:solidFill>
                <a:latin typeface="+mj-lt"/>
              </a:rPr>
              <a:t>   Problemas recurrentes.</a:t>
            </a:r>
          </a:p>
          <a:p>
            <a:pPr>
              <a:buFontTx/>
              <a:buChar char="-"/>
            </a:pPr>
            <a:endParaRPr lang="es-CL" sz="2000" dirty="0">
              <a:solidFill>
                <a:schemeClr val="tx1"/>
              </a:solidFill>
              <a:latin typeface="Berlin Sans FB Demi" pitchFamily="34" charset="0"/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2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84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566058" y="165123"/>
            <a:ext cx="75002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4000" b="1" dirty="0">
                <a:latin typeface="Berlin Sans FB Demi" pitchFamily="34" charset="0"/>
                <a:cs typeface="Arial Narrow"/>
              </a:rPr>
              <a:t>Regulación</a:t>
            </a:r>
            <a:endParaRPr lang="es-CL" sz="40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959986"/>
              </p:ext>
            </p:extLst>
          </p:nvPr>
        </p:nvGraphicFramePr>
        <p:xfrm>
          <a:off x="892628" y="1546680"/>
          <a:ext cx="7500258" cy="3084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2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795">
                <a:tc>
                  <a:txBody>
                    <a:bodyPr/>
                    <a:lstStyle/>
                    <a:p>
                      <a:pPr algn="ctr"/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Berlin Sans FB Demi" pitchFamily="34" charset="0"/>
                        </a:rPr>
                        <a:t>Proceso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Berlin Sans FB Demi" pitchFamily="34" charset="0"/>
                        </a:rPr>
                        <a:t>Cargos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Berlin Sans FB Demi" pitchFamily="34" charset="0"/>
                        </a:rPr>
                        <a:t>Dictamen o resolución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Berlin Sans FB Demi" pitchFamily="34" charset="0"/>
                        </a:rPr>
                        <a:t>Recursos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Sumarios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79°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 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90°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15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79°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 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128"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Investigaciones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79°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15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(Circular 1.777)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45°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Primeras diligencias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 79° </a:t>
                      </a:r>
                    </a:p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 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L" sz="1600" dirty="0">
                        <a:solidFill>
                          <a:schemeClr val="tx1"/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L" sz="1600" dirty="0">
                        <a:solidFill>
                          <a:schemeClr val="tx1"/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3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57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695316" y="295753"/>
            <a:ext cx="69818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b="1" dirty="0">
                <a:latin typeface="Berlin Sans FB Demi" pitchFamily="34" charset="0"/>
                <a:cs typeface="Arial Narrow"/>
              </a:rPr>
              <a:t>Tipos de notificación </a:t>
            </a:r>
            <a:endParaRPr lang="es-CL" sz="3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135808"/>
              </p:ext>
            </p:extLst>
          </p:nvPr>
        </p:nvGraphicFramePr>
        <p:xfrm>
          <a:off x="1466850" y="1618635"/>
          <a:ext cx="5848350" cy="3562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690"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Tipo de notificación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Fuente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12">
                <a:tc rowSpan="2">
                  <a:txBody>
                    <a:bodyPr/>
                    <a:lstStyle/>
                    <a:p>
                      <a:pPr marL="0" marR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Personal</a:t>
                      </a:r>
                      <a:endParaRPr lang="es-CL" sz="1600" dirty="0">
                        <a:solidFill>
                          <a:schemeClr val="tx1"/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N° 15 </a:t>
                      </a:r>
                    </a:p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(inciso 1, Art. 79)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marL="0" marR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800" dirty="0">
                        <a:solidFill>
                          <a:schemeClr val="bg2">
                            <a:lumMod val="50000"/>
                          </a:schemeClr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N° 11</a:t>
                      </a:r>
                    </a:p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( i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nciso 1, Art. 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45)</a:t>
                      </a:r>
                      <a:endParaRPr lang="es-CL" sz="1600" dirty="0">
                        <a:solidFill>
                          <a:schemeClr val="tx1"/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98">
                <a:tc rowSpan="2">
                  <a:txBody>
                    <a:bodyPr/>
                    <a:lstStyle/>
                    <a:p>
                      <a:pPr algn="l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Po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 carta certificada</a:t>
                      </a:r>
                      <a:endParaRPr lang="es-CL" sz="1600" dirty="0">
                        <a:solidFill>
                          <a:schemeClr val="tx1"/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N° 15:  </a:t>
                      </a:r>
                    </a:p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inciso 2, Art. 79°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77">
                <a:tc vMerge="1">
                  <a:txBody>
                    <a:bodyPr/>
                    <a:lstStyle/>
                    <a:p>
                      <a:pPr algn="l"/>
                      <a:endParaRPr lang="es-CL" sz="1800" dirty="0">
                        <a:solidFill>
                          <a:schemeClr val="bg2">
                            <a:lumMod val="50000"/>
                          </a:schemeClr>
                        </a:solidFill>
                        <a:latin typeface="Berlin Sans FB Dem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Reglamento N° 11: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 </a:t>
                      </a:r>
                    </a:p>
                    <a:p>
                      <a:pPr marL="0" marR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i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nciso 2, Art. 45°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Tácita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Art.</a:t>
                      </a:r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 47°</a:t>
                      </a:r>
                    </a:p>
                    <a:p>
                      <a:pPr algn="ctr"/>
                      <a:r>
                        <a:rPr lang="es-CL" sz="1600" baseline="0" dirty="0">
                          <a:solidFill>
                            <a:schemeClr val="tx1"/>
                          </a:solidFill>
                          <a:latin typeface="Berlin Sans FB Demi" pitchFamily="34" charset="0"/>
                        </a:rPr>
                        <a:t>Ley N° 19.880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4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4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85741" y="114778"/>
            <a:ext cx="7826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600" b="1" dirty="0">
                <a:latin typeface="+mj-lt"/>
                <a:cs typeface="Arial Narrow"/>
              </a:rPr>
              <a:t>Notificación personal</a:t>
            </a:r>
          </a:p>
          <a:p>
            <a:pPr algn="ctr"/>
            <a:r>
              <a:rPr lang="es-CL" sz="2000" b="1" dirty="0">
                <a:latin typeface="+mj-lt"/>
                <a:cs typeface="Arial Narrow"/>
              </a:rPr>
              <a:t>(Análisis)</a:t>
            </a:r>
            <a:endParaRPr lang="es-CL" sz="4000" dirty="0">
              <a:latin typeface="+mj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15040" y="1480399"/>
            <a:ext cx="805543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Constituye </a:t>
            </a:r>
            <a:r>
              <a:rPr lang="es-CL" sz="1600" b="1" dirty="0">
                <a:latin typeface="+mj-lt"/>
              </a:rPr>
              <a:t>la regla general </a:t>
            </a:r>
            <a:r>
              <a:rPr lang="es-CL" sz="1600" dirty="0">
                <a:latin typeface="+mj-lt"/>
              </a:rPr>
              <a:t>en materia de notificación.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b="1" dirty="0">
                <a:latin typeface="+mj-lt"/>
              </a:rPr>
              <a:t>En el sumario, ésta diligencia puede ser practicada por el mismo Fiscal o por el Oficial que designe el Jefe Dictaminador </a:t>
            </a:r>
            <a:r>
              <a:rPr lang="es-CL" sz="1600" dirty="0">
                <a:latin typeface="+mj-lt"/>
              </a:rPr>
              <a:t>(inc. 4, Art. 78°, 89° del Reglamento N° 15).</a:t>
            </a:r>
          </a:p>
          <a:p>
            <a:pPr algn="just"/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Tanto en el sumario, como en los demás procesos, </a:t>
            </a:r>
            <a:r>
              <a:rPr lang="es-CL" sz="1600" b="1" dirty="0">
                <a:latin typeface="+mj-lt"/>
              </a:rPr>
              <a:t>se debe entregar copia íntegra del acto administrativo que se notifica</a:t>
            </a:r>
            <a:r>
              <a:rPr lang="es-CL" sz="1600" dirty="0">
                <a:latin typeface="+mj-lt"/>
              </a:rPr>
              <a:t> (inc. 1, Art. 79° Reglamento N° 15 e inc. 1, Art. 45° Reglamento N° 11). 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b="1" dirty="0">
                <a:latin typeface="+mj-lt"/>
              </a:rPr>
              <a:t>Las actas de notificación deben señalar con precisión el recurso o derecho que puede ejercer el notificado</a:t>
            </a:r>
            <a:r>
              <a:rPr lang="es-CL" sz="1600" dirty="0">
                <a:latin typeface="+mj-lt"/>
              </a:rPr>
              <a:t>, en caso de ser procedente.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b="1" dirty="0">
                <a:latin typeface="+mj-lt"/>
              </a:rPr>
              <a:t>En el proceso se debe certificar el resultado de la gestión notificada</a:t>
            </a:r>
            <a:r>
              <a:rPr lang="es-CL" sz="1600" dirty="0">
                <a:latin typeface="+mj-lt"/>
              </a:rPr>
              <a:t>, es decir, si presentó o no recurso, si lo hizo dentro de plazo, etc.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b="1" dirty="0">
                <a:latin typeface="+mj-lt"/>
              </a:rPr>
              <a:t>Si no es posible efectuar esta notificación</a:t>
            </a:r>
            <a:r>
              <a:rPr lang="es-CL" sz="1600" dirty="0">
                <a:latin typeface="+mj-lt"/>
              </a:rPr>
              <a:t>, por ejemplo, porque el funcionario no compareció, </a:t>
            </a:r>
            <a:r>
              <a:rPr lang="es-CL" sz="1600" b="1" dirty="0">
                <a:latin typeface="+mj-lt"/>
              </a:rPr>
              <a:t>se debe certificar en el expediente.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5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07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12962" y="142781"/>
            <a:ext cx="79452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600" b="1" dirty="0">
                <a:latin typeface="+mj-lt"/>
                <a:cs typeface="Arial Narrow"/>
              </a:rPr>
              <a:t>Notificación por carta certificada</a:t>
            </a:r>
          </a:p>
          <a:p>
            <a:pPr algn="ctr"/>
            <a:r>
              <a:rPr lang="es-CL" sz="2000" b="1" dirty="0">
                <a:latin typeface="+mj-lt"/>
              </a:rPr>
              <a:t>(Análisis)</a:t>
            </a:r>
            <a:endParaRPr lang="es-CL" sz="2000" dirty="0">
              <a:latin typeface="+mj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10290" y="1557966"/>
            <a:ext cx="76812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Es una actuación de </a:t>
            </a:r>
            <a:r>
              <a:rPr lang="es-CL" sz="1600" b="1" dirty="0">
                <a:latin typeface="+mj-lt"/>
              </a:rPr>
              <a:t>carácter excepcional</a:t>
            </a:r>
            <a:r>
              <a:rPr lang="es-CL" sz="1600" dirty="0">
                <a:latin typeface="+mj-lt"/>
              </a:rPr>
              <a:t>, que sólo procederá cuando exista un </a:t>
            </a:r>
            <a:r>
              <a:rPr lang="es-CL" sz="1600" b="1" dirty="0">
                <a:latin typeface="+mj-lt"/>
              </a:rPr>
              <a:t>hecho que impida la notificación personal</a:t>
            </a:r>
            <a:r>
              <a:rPr lang="es-CL" sz="1600" dirty="0">
                <a:latin typeface="+mj-lt"/>
              </a:rPr>
              <a:t>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b="1" dirty="0">
                <a:latin typeface="+mj-lt"/>
              </a:rPr>
              <a:t>La norma exige que se certifique en el proceso el hecho que impidió concretar la notificación personal </a:t>
            </a:r>
            <a:r>
              <a:rPr lang="es-CL" sz="1600" dirty="0">
                <a:latin typeface="+mj-lt"/>
              </a:rPr>
              <a:t>(inc. 2, Art. 79° Reglamento N° 15 e inc. 2,  Art. 45° Reglamento N° 11). 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La carta debe ser enviada </a:t>
            </a:r>
            <a:r>
              <a:rPr lang="es-CL" sz="1600" b="1" dirty="0">
                <a:latin typeface="+mj-lt"/>
              </a:rPr>
              <a:t>al último domicilio que el funcionario registró en el expediente o aquel que tenía en la unidad donde presta o prestaba servicio </a:t>
            </a:r>
            <a:r>
              <a:rPr lang="es-CL" sz="1600" dirty="0">
                <a:latin typeface="+mj-lt"/>
              </a:rPr>
              <a:t>(inc. 2, Art. 79° Reglamento N° 15 e inc. 2,  Art. 45° Reglamento N° 11).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La notificación s</a:t>
            </a:r>
            <a:r>
              <a:rPr lang="es-CL" sz="1600" b="1" dirty="0">
                <a:latin typeface="+mj-lt"/>
              </a:rPr>
              <a:t>e entiende practicada a contar del tercer día hábil siguiente desde que fue recibida en la oficina de correos donde el funcionario registra domicilio </a:t>
            </a:r>
            <a:r>
              <a:rPr lang="es-CL" sz="1600" dirty="0">
                <a:latin typeface="+mj-lt"/>
              </a:rPr>
              <a:t>(inc. 3, Art. 79° Reglamento N° 15 e inc. 3,  Art. 45° Reglamento N° 11). 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6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50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15684" y="107124"/>
            <a:ext cx="824729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b="1" dirty="0">
                <a:latin typeface="+mj-lt"/>
                <a:cs typeface="Arial Narrow"/>
              </a:rPr>
              <a:t>Notificación por carta certificada </a:t>
            </a:r>
          </a:p>
          <a:p>
            <a:pPr algn="ctr"/>
            <a:r>
              <a:rPr lang="es-CL" sz="2000" b="1" dirty="0">
                <a:latin typeface="+mj-lt"/>
                <a:cs typeface="Arial Narrow"/>
              </a:rPr>
              <a:t>(operatividad)</a:t>
            </a:r>
            <a:endParaRPr lang="es-CL" sz="2000" dirty="0">
              <a:latin typeface="+mj-lt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805541" y="1322561"/>
            <a:ext cx="75193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algn="just"/>
            <a:r>
              <a:rPr lang="es-CL" sz="1600" b="1" u="sng" dirty="0">
                <a:latin typeface="+mj-lt"/>
              </a:rPr>
              <a:t>Las siguientes actuaciones deben quedar estampadas por escrito en el expediente: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La certificación del hecho de haber efectuado diligencias  para realizar la notificación personal y qué motivo impidió su realización la notificación personal.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El hecho de haber despachado la carta, en la cual se consignará el documento que se acompañó, el número de envío, etc.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Constancia de haber revisado la página web </a:t>
            </a:r>
            <a:r>
              <a:rPr lang="es-CL" sz="1600" dirty="0">
                <a:latin typeface="+mj-lt"/>
                <a:hlinkClick r:id="rId2"/>
              </a:rPr>
              <a:t>www.correoschile.cl</a:t>
            </a:r>
            <a:r>
              <a:rPr lang="es-CL" sz="1600" dirty="0">
                <a:latin typeface="+mj-lt"/>
              </a:rPr>
              <a:t> donde se indicará la fecha en que la carta llegó a la oficina de correos del domicilio que registra el notificado.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Certificación de haber transcurrido el plazo de notificación y el reglamentario para realizar la actuación procesal que correspondía, por ejemplo, si presentó o no recurso, si realizó o no la gestión solicitada, etc. 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7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4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485768" y="82909"/>
            <a:ext cx="74295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600" b="1" dirty="0">
                <a:latin typeface="+mj-lt"/>
                <a:cs typeface="Arial Narrow"/>
              </a:rPr>
              <a:t>Notificación tácita</a:t>
            </a:r>
          </a:p>
          <a:p>
            <a:pPr algn="ctr"/>
            <a:r>
              <a:rPr lang="es-CL" sz="2000" b="1" dirty="0">
                <a:latin typeface="+mj-lt"/>
              </a:rPr>
              <a:t>(Análisis)</a:t>
            </a:r>
            <a:endParaRPr lang="es-CL" sz="2000" dirty="0">
              <a:latin typeface="+mj-lt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653140" y="1494011"/>
            <a:ext cx="77764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algn="just"/>
            <a:r>
              <a:rPr lang="es-CL" sz="1600" dirty="0">
                <a:latin typeface="+mj-lt"/>
              </a:rPr>
              <a:t>Está regulada en el Art. 47 de la Ley N° 19.880, cuyo texto señala “Aun cuando no hubiere sido practicada notificación alguna, o la que existiere fuere viciada, se entenderá el acto debidamente notificado si el interesado a quien afectare, hiciere cualquier gestión en el procedimiento, con posterioridad al acto, que suponga necesariamente su conocimiento, sin haber reclamado previamente de su falta o nulidad”.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66700" algn="just"/>
            <a:r>
              <a:rPr lang="es-CL" sz="1600" u="sng" dirty="0">
                <a:latin typeface="+mj-lt"/>
              </a:rPr>
              <a:t>Acciones que podrán suponer notificación tácita</a:t>
            </a:r>
            <a:r>
              <a:rPr lang="es-CL" sz="1600" dirty="0">
                <a:latin typeface="+mj-lt"/>
              </a:rPr>
              <a:t>: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La solicitud de copia o aumento de plazo.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Presentación de mandato. 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Realizar una gestión procesal posterior sin alegar el defecto.</a:t>
            </a:r>
          </a:p>
          <a:p>
            <a:pPr marL="285750" indent="-28575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285750" indent="-285750" algn="just">
              <a:buFontTx/>
              <a:buChar char="-"/>
            </a:pPr>
            <a:r>
              <a:rPr lang="es-CL" sz="1600" dirty="0">
                <a:latin typeface="+mj-lt"/>
              </a:rPr>
              <a:t>Presentar un escrito acompañando cualquier tipo de antecedente.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8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5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61949" y="235309"/>
            <a:ext cx="78295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3600" b="1" dirty="0">
                <a:latin typeface="+mj-lt"/>
                <a:cs typeface="Arial Narrow"/>
              </a:rPr>
              <a:t>Análisis práctico y jurisprudencial</a:t>
            </a:r>
            <a:endParaRPr lang="es-CL" sz="3600" dirty="0">
              <a:latin typeface="+mj-lt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605516" y="1313036"/>
            <a:ext cx="780505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algn="just"/>
            <a:r>
              <a:rPr lang="es-CL" sz="1600" u="sng" dirty="0">
                <a:latin typeface="+mj-lt"/>
              </a:rPr>
              <a:t>Sobre la notificación personal </a:t>
            </a:r>
            <a:r>
              <a:rPr lang="es-CL" sz="1600" dirty="0">
                <a:latin typeface="+mj-lt"/>
              </a:rPr>
              <a:t>:</a:t>
            </a: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r>
              <a:rPr lang="es-CL" sz="1600" dirty="0">
                <a:latin typeface="+mj-lt"/>
              </a:rPr>
              <a:t>Dictamen 5.166/2019: la citación del funcionario que será notificado no puede efectuarse por mensajes de whatsapp.</a:t>
            </a: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r>
              <a:rPr lang="es-CL" sz="1600" dirty="0">
                <a:latin typeface="+mj-lt"/>
              </a:rPr>
              <a:t>Dictamen 81.978/2015: la notificación del Dictamen puede ser practicada por el funcionario que determine el Jefe Dictaminador. Es decir, no es necesario que lo realice el Fiscal.</a:t>
            </a: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r>
              <a:rPr lang="es-CL" sz="1600" dirty="0">
                <a:latin typeface="+mj-lt"/>
              </a:rPr>
              <a:t>Si existe apoderado, las notificaciones deben ser practicadas a él. </a:t>
            </a: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r>
              <a:rPr lang="es-CL" sz="1600" dirty="0">
                <a:latin typeface="+mj-lt"/>
              </a:rPr>
              <a:t>En el sumario, las citaciones deben efectuarse en la forma que señala el Art. 36 del Reglamento N° 15. 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9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31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47651" y="282934"/>
            <a:ext cx="78104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3200" b="1" dirty="0">
                <a:latin typeface="+mj-lt"/>
                <a:cs typeface="Arial Narrow"/>
              </a:rPr>
              <a:t>Análisis práctico y jurisprudencial</a:t>
            </a:r>
            <a:endParaRPr lang="es-CL" sz="3200" dirty="0">
              <a:latin typeface="+mj-lt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538841" y="1417811"/>
            <a:ext cx="80241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algn="just"/>
            <a:r>
              <a:rPr lang="es-CL" sz="1600" u="sng" dirty="0">
                <a:latin typeface="+mj-lt"/>
              </a:rPr>
              <a:t>Sobre la notificación por carta certificada</a:t>
            </a:r>
            <a:r>
              <a:rPr lang="es-CL" sz="1600" dirty="0">
                <a:latin typeface="+mj-lt"/>
              </a:rPr>
              <a:t>:</a:t>
            </a:r>
          </a:p>
          <a:p>
            <a:pPr marL="266700" algn="just"/>
            <a:endParaRPr lang="es-CL" sz="1600" dirty="0">
              <a:latin typeface="+mj-lt"/>
            </a:endParaRPr>
          </a:p>
          <a:p>
            <a:pPr marL="266700" algn="just"/>
            <a:endParaRPr lang="es-CL" sz="1600" dirty="0">
              <a:latin typeface="+mj-lt"/>
            </a:endParaRPr>
          </a:p>
          <a:p>
            <a:pPr marL="2333625" indent="-2066925" algn="just"/>
            <a:r>
              <a:rPr lang="es-CL" sz="1600" dirty="0">
                <a:latin typeface="+mj-lt"/>
              </a:rPr>
              <a:t>Dictamen 18.113/2018: No realizar diligencias para notificar personalmente una actuación, importa una vulneración que afecta la validez, y; </a:t>
            </a:r>
          </a:p>
          <a:p>
            <a:pPr marL="2333625" indent="-2066925" algn="just"/>
            <a:endParaRPr lang="es-CL" sz="1600" dirty="0">
              <a:latin typeface="+mj-lt"/>
            </a:endParaRPr>
          </a:p>
          <a:p>
            <a:pPr marL="2333625" indent="-2066925" algn="just"/>
            <a:endParaRPr lang="es-CL" sz="1600" dirty="0">
              <a:latin typeface="+mj-lt"/>
            </a:endParaRPr>
          </a:p>
          <a:p>
            <a:pPr marL="2333625" indent="-2066925" algn="just"/>
            <a:r>
              <a:rPr lang="es-CL" sz="1600" dirty="0">
                <a:latin typeface="+mj-lt"/>
              </a:rPr>
              <a:t>Dictamen 26.501/2018: Antes de despachar la notificación por carta certificada, se debe dejar constancia del motivo por el cual no pudo notificarse personalmente (causal de invalidación).</a:t>
            </a:r>
          </a:p>
          <a:p>
            <a:pPr marL="2333625" indent="-2066925" algn="just"/>
            <a:endParaRPr lang="es-CL" sz="1600" dirty="0">
              <a:latin typeface="+mj-lt"/>
            </a:endParaRPr>
          </a:p>
          <a:p>
            <a:pPr marL="2333625" indent="-2066925" algn="just"/>
            <a:endParaRPr lang="es-CL" sz="1600" dirty="0">
              <a:latin typeface="+mj-lt"/>
            </a:endParaRPr>
          </a:p>
          <a:p>
            <a:pPr marL="2333625" indent="-2066925" algn="just"/>
            <a:r>
              <a:rPr lang="es-CL" sz="1600" dirty="0">
                <a:latin typeface="+mj-lt"/>
              </a:rPr>
              <a:t>Dictamen 1.611/2018: 	La carta debe ser enviada al domicilio que el apoderado registró en el proceso, enviarla a una dirección distinta impide tenerlo por notificado (causal de invalidación). 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10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6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1066800" y="387709"/>
            <a:ext cx="7058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3600" b="1" dirty="0">
                <a:latin typeface="+mj-lt"/>
                <a:cs typeface="Arial Narrow"/>
              </a:rPr>
              <a:t>Problemas recurrentes</a:t>
            </a:r>
            <a:endParaRPr lang="es-CL" sz="3600" dirty="0">
              <a:latin typeface="+mj-lt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628650" y="1459721"/>
            <a:ext cx="78676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Se puede notificar un día inhábil? (Dictamen 32.498/2018 – 40.392/2017)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Existe un plazo para concretar la notificación? (5 días, aplica plazo del inc. 2, del Art. 45 Ley N° 19.880)  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Es necesario dictar una orden de sumario para efectuar una notificación?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Corresponde ampliar la Vista Fiscal u Oficio Informe cada vez que se ordene una notificación.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En la notificación por carta certificada, ¿es necesario que la carta llegue al domicilio del notificado para contar el plazo de tres días?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Es necesario realizar búsqueda previas para despachar una carta certificada? (Dictamen 9.907/2007 – 50.129/2011) no es necesario.</a:t>
            </a:r>
          </a:p>
          <a:p>
            <a:pPr marL="447675" indent="-342900" algn="just">
              <a:buFontTx/>
              <a:buChar char="-"/>
            </a:pPr>
            <a:endParaRPr lang="es-CL" sz="1600" dirty="0">
              <a:latin typeface="+mj-lt"/>
            </a:endParaRPr>
          </a:p>
          <a:p>
            <a:pPr marL="447675" indent="-342900" algn="just">
              <a:buFontTx/>
              <a:buChar char="-"/>
            </a:pPr>
            <a:r>
              <a:rPr lang="es-CL" sz="1600" dirty="0">
                <a:latin typeface="+mj-lt"/>
              </a:rPr>
              <a:t>Que ocurre si el funcionario en el acta de notificación sólo escribe sin manifestar si está o no conforme y si ejercerá o no los derechos que le corresponde?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4EA8-5178-ED4A-9812-0C6A6D246B02}" type="slidenum">
              <a:rPr lang="es-ES" smtClean="0">
                <a:solidFill>
                  <a:prstClr val="white"/>
                </a:solidFill>
              </a:rPr>
              <a:pPr/>
              <a:t>11</a:t>
            </a:fld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10373</TotalTime>
  <Words>1116</Words>
  <Application>Microsoft Office PowerPoint</Application>
  <PresentationFormat>Presentación en pantalla (4:3)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Silvana Vargas Villegas</cp:lastModifiedBy>
  <cp:revision>690</cp:revision>
  <cp:lastPrinted>2019-07-29T20:20:53Z</cp:lastPrinted>
  <dcterms:created xsi:type="dcterms:W3CDTF">2015-12-07T23:44:19Z</dcterms:created>
  <dcterms:modified xsi:type="dcterms:W3CDTF">2026-08-05T15:10:52Z</dcterms:modified>
</cp:coreProperties>
</file>